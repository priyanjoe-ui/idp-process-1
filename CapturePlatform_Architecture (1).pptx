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2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2.png"/><Relationship Id="rId9" Type="http://schemas.openxmlformats.org/officeDocument/2006/relationships/image" Target="../media/image-1-2.png"/><Relationship Id="rId10" Type="http://schemas.openxmlformats.org/officeDocument/2006/relationships/image" Target="../media/image-1-2.png"/><Relationship Id="rId11" Type="http://schemas.openxmlformats.org/officeDocument/2006/relationships/image" Target="../media/image-1-3.png"/><Relationship Id="rId12" Type="http://schemas.openxmlformats.org/officeDocument/2006/relationships/image" Target="../media/image-1-1.png"/><Relationship Id="rId13" Type="http://schemas.openxmlformats.org/officeDocument/2006/relationships/image" Target="../media/image-1-2.png"/><Relationship Id="rId14" Type="http://schemas.openxmlformats.org/officeDocument/2006/relationships/image" Target="../media/image-1-2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32F3E"/>
                </a:solidFill>
              </a:rPr>
              <a:t>Akrify  ·  Reference Architecture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1143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Customer-deployed serverless · Studio-configured · Gen-AI-native · pluggable ingestion &amp; export · multi-cloud-ready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3749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5A6B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731520"/>
            <a:ext cx="3694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B7B"/>
                </a:solidFill>
              </a:rPr>
              <a:t>Vendor (your company)</a:t>
            </a:r>
            <a:endParaRPr lang="en-US" sz="90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3D4856"/>
                </a:solidFill>
              </a:rPr>
              <a:t>ships installable package (CloudFormation / CDK) · no runtime data access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60520" y="982980"/>
            <a:ext cx="41148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863340" y="891540"/>
            <a:ext cx="100584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3D4856"/>
                </a:solidFill>
              </a:rPr>
              <a:t>deploys to →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11567160" cy="5029200"/>
          </a:xfrm>
          <a:prstGeom prst="roundRect">
            <a:avLst>
              <a:gd name="adj" fmla="val 1091"/>
            </a:avLst>
          </a:prstGeom>
          <a:ln w="15875">
            <a:solidFill>
              <a:srgbClr val="232F3E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11480" y="1362456"/>
            <a:ext cx="11384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2F3E"/>
                </a:solidFill>
              </a:rPr>
              <a:t>Customer Cloud Account  ·  (AWS shown — Azure equivalent: Functions / Durable Functions / Blob / Cosmos DB / Form Recognizer / Azure OpenAI)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627632"/>
            <a:ext cx="11201400" cy="1097280"/>
          </a:xfrm>
          <a:prstGeom prst="roundRect">
            <a:avLst>
              <a:gd name="adj" fmla="val 5000"/>
            </a:avLst>
          </a:prstGeom>
          <a:ln w="15875">
            <a:solidFill>
              <a:srgbClr val="2E73B8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94360" y="1664208"/>
            <a:ext cx="11018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3B8"/>
                </a:solidFill>
              </a:rPr>
              <a:t>AKRIFY STUDIO — configuration plane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" y="1920240"/>
            <a:ext cx="1188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9050">
            <a:solidFill>
              <a:srgbClr val="2E7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920240"/>
            <a:ext cx="1133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3B8"/>
                </a:solidFill>
              </a:rPr>
              <a:t>Customer Admin</a:t>
            </a:r>
            <a:endParaRPr lang="en-US" sz="9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3D4856"/>
                </a:solidFill>
              </a:rPr>
              <a:t>business analyst</a:t>
            </a:r>
            <a:endParaRPr lang="en-US" sz="900" dirty="0"/>
          </a:p>
        </p:txBody>
      </p:sp>
      <p:pic>
        <p:nvPicPr>
          <p:cNvPr id="14" name="Image 0" descr="/home/claude/icons_user/icons/Arch_Amazon-CloudFront_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3180" y="187452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103120" y="23591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2F3E"/>
                </a:solidFill>
              </a:rPr>
              <a:t>Studio Web App</a:t>
            </a:r>
            <a:endParaRPr lang="en-US" sz="85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3D4856"/>
                </a:solidFill>
              </a:rPr>
              <a:t>CloudFront + S3</a:t>
            </a:r>
            <a:endParaRPr lang="en-US" sz="850" dirty="0"/>
          </a:p>
        </p:txBody>
      </p:sp>
      <p:pic>
        <p:nvPicPr>
          <p:cNvPr id="16" name="Image 1" descr="/home/claude/icons_user/icons/Arch_AWS-Lambda_4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87452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49040" y="23591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2F3E"/>
                </a:solidFill>
              </a:rPr>
              <a:t>Studio API</a:t>
            </a:r>
            <a:endParaRPr lang="en-US" sz="85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3D4856"/>
                </a:solidFill>
              </a:rPr>
              <a:t>Lambda</a:t>
            </a:r>
            <a:endParaRPr lang="en-US" sz="850" dirty="0"/>
          </a:p>
        </p:txBody>
      </p:sp>
      <p:pic>
        <p:nvPicPr>
          <p:cNvPr id="18" name="Image 2" descr="/home/claude/icons_user/icons/Arch_Amazon-DynamoDB_4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18745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66360" y="235915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2F3E"/>
                </a:solidFill>
              </a:rPr>
              <a:t>Config Store</a:t>
            </a:r>
            <a:endParaRPr lang="en-US" sz="85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3D4856"/>
                </a:solidFill>
              </a:rPr>
              <a:t>DynamoDB</a:t>
            </a:r>
            <a:endParaRPr lang="en-US" sz="850" dirty="0"/>
          </a:p>
        </p:txBody>
      </p:sp>
      <p:pic>
        <p:nvPicPr>
          <p:cNvPr id="20" name="Image 3" descr="/home/claude/icons_user/icons/Arch_Amazon-Simple-Storage-Service_4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8745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675120" y="23591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2F3E"/>
                </a:solidFill>
              </a:rPr>
              <a:t>Artifacts</a:t>
            </a:r>
            <a:endParaRPr lang="en-US" sz="85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3D4856"/>
                </a:solidFill>
              </a:rPr>
              <a:t>S3 (prompts, samples)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1874520" y="2203704"/>
            <a:ext cx="22860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3520440" y="2112264"/>
            <a:ext cx="22860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4937760" y="2112264"/>
            <a:ext cx="22860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6492240" y="2112264"/>
            <a:ext cx="18288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6" name="Text 20"/>
          <p:cNvSpPr/>
          <p:nvPr/>
        </p:nvSpPr>
        <p:spPr>
          <a:xfrm>
            <a:off x="827532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E73B8"/>
                </a:solidFill>
              </a:rPr>
              <a:t>Studio defines:  </a:t>
            </a:r>
            <a:pPr indent="0" marL="0">
              <a:buNone/>
            </a:pPr>
            <a:r>
              <a:rPr lang="en-US" sz="800" dirty="0">
                <a:solidFill>
                  <a:srgbClr val="3D4856"/>
                </a:solidFill>
              </a:rPr>
              <a:t>document types · fields · extraction rules (positional, anchor, regex, AI) · classification · validation · jobs &amp; routing · ingestion + export connectors · indexer UI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7772400" y="272491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E73B8"/>
                </a:solidFill>
              </a:rPr>
              <a:t>configuration drives runtime ↓</a:t>
            </a:r>
            <a:endParaRPr lang="en-US" sz="750" dirty="0"/>
          </a:p>
        </p:txBody>
      </p:sp>
      <p:sp>
        <p:nvSpPr>
          <p:cNvPr id="28" name="Shape 22"/>
          <p:cNvSpPr/>
          <p:nvPr/>
        </p:nvSpPr>
        <p:spPr>
          <a:xfrm>
            <a:off x="502920" y="2926080"/>
            <a:ext cx="11201400" cy="2423160"/>
          </a:xfrm>
          <a:prstGeom prst="roundRect">
            <a:avLst>
              <a:gd name="adj" fmla="val 2264"/>
            </a:avLst>
          </a:prstGeom>
          <a:ln w="15875">
            <a:solidFill>
              <a:srgbClr val="8C4FFF"/>
            </a:solidFill>
            <a:prstDash val="dash"/>
          </a:ln>
        </p:spPr>
      </p:sp>
      <p:sp>
        <p:nvSpPr>
          <p:cNvPr id="29" name="Text 23"/>
          <p:cNvSpPr/>
          <p:nvPr/>
        </p:nvSpPr>
        <p:spPr>
          <a:xfrm>
            <a:off x="594360" y="2962656"/>
            <a:ext cx="11018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4FFF"/>
                </a:solidFill>
              </a:rPr>
              <a:t>RUNTIME — generic, config-driven document pipeline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685800" y="3246120"/>
            <a:ext cx="1417320" cy="219456"/>
          </a:xfrm>
          <a:prstGeom prst="roundRect">
            <a:avLst>
              <a:gd name="adj" fmla="val 16667"/>
            </a:avLst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85800" y="324612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Ingestion Connectors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685800" y="3483864"/>
            <a:ext cx="1417320" cy="164592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7620">
            <a:solidFill>
              <a:srgbClr val="B5651D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22376" y="3483864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32F3E"/>
                </a:solidFill>
              </a:rPr>
              <a:t>Amazon S3 · Azure Blob</a:t>
            </a:r>
            <a:endParaRPr lang="en-US" sz="700" dirty="0"/>
          </a:p>
        </p:txBody>
      </p:sp>
      <p:sp>
        <p:nvSpPr>
          <p:cNvPr id="34" name="Shape 28"/>
          <p:cNvSpPr/>
          <p:nvPr/>
        </p:nvSpPr>
        <p:spPr>
          <a:xfrm>
            <a:off x="685800" y="3666744"/>
            <a:ext cx="1417320" cy="164592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7620">
            <a:solidFill>
              <a:srgbClr val="B5651D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22376" y="3666744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32F3E"/>
                </a:solidFill>
              </a:rPr>
              <a:t>SharePoint</a:t>
            </a:r>
            <a:endParaRPr lang="en-US" sz="700" dirty="0"/>
          </a:p>
        </p:txBody>
      </p:sp>
      <p:sp>
        <p:nvSpPr>
          <p:cNvPr id="36" name="Shape 30"/>
          <p:cNvSpPr/>
          <p:nvPr/>
        </p:nvSpPr>
        <p:spPr>
          <a:xfrm>
            <a:off x="685800" y="3849624"/>
            <a:ext cx="1417320" cy="164592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7620">
            <a:solidFill>
              <a:srgbClr val="B5651D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722376" y="3849624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32F3E"/>
                </a:solidFill>
              </a:rPr>
              <a:t>Email · REST · Webhook</a:t>
            </a:r>
            <a:endParaRPr lang="en-US" sz="700" dirty="0"/>
          </a:p>
        </p:txBody>
      </p:sp>
      <p:sp>
        <p:nvSpPr>
          <p:cNvPr id="38" name="Shape 32"/>
          <p:cNvSpPr/>
          <p:nvPr/>
        </p:nvSpPr>
        <p:spPr>
          <a:xfrm>
            <a:off x="685800" y="4032504"/>
            <a:ext cx="1417320" cy="164592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7620">
            <a:solidFill>
              <a:srgbClr val="B5651D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722376" y="4032504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32F3E"/>
                </a:solidFill>
              </a:rPr>
              <a:t>FTP / SFTP</a:t>
            </a:r>
            <a:endParaRPr lang="en-US" sz="700" dirty="0"/>
          </a:p>
        </p:txBody>
      </p:sp>
      <p:pic>
        <p:nvPicPr>
          <p:cNvPr id="40" name="Image 4" descr="/home/claude/icons_user/icons/Arch_AWS-Lambda_4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4620" y="3429000"/>
            <a:ext cx="457200" cy="45720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2331720" y="391363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2F3E"/>
                </a:solidFill>
              </a:rPr>
              <a:t>Ingestion λ</a:t>
            </a:r>
            <a:endParaRPr lang="en-US" sz="85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3D4856"/>
                </a:solidFill>
              </a:rPr>
              <a:t>validates · unzips</a:t>
            </a:r>
            <a:endParaRPr lang="en-US" sz="850" dirty="0"/>
          </a:p>
        </p:txBody>
      </p:sp>
      <p:sp>
        <p:nvSpPr>
          <p:cNvPr id="42" name="Shape 35"/>
          <p:cNvSpPr/>
          <p:nvPr/>
        </p:nvSpPr>
        <p:spPr>
          <a:xfrm>
            <a:off x="2103120" y="3666744"/>
            <a:ext cx="228600" cy="6400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triangle"/>
          </a:ln>
        </p:spPr>
      </p:sp>
      <p:sp>
        <p:nvSpPr>
          <p:cNvPr id="43" name="Text 36"/>
          <p:cNvSpPr/>
          <p:nvPr/>
        </p:nvSpPr>
        <p:spPr>
          <a:xfrm>
            <a:off x="1897380" y="3300984"/>
            <a:ext cx="6400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4856"/>
                </a:solidFill>
              </a:rPr>
              <a:t>events</a:t>
            </a:r>
            <a:endParaRPr lang="en-US" sz="750" dirty="0"/>
          </a:p>
        </p:txBody>
      </p:sp>
      <p:pic>
        <p:nvPicPr>
          <p:cNvPr id="44" name="Image 5" descr="/home/claude/icons_user/icons/Arch_Amazon-Simple-Queue-Service_4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3340" y="3429000"/>
            <a:ext cx="457200" cy="45720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3657600" y="391363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2F3E"/>
                </a:solidFill>
              </a:rPr>
              <a:t>SQS</a:t>
            </a:r>
            <a:endParaRPr lang="en-US" sz="85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3D4856"/>
                </a:solidFill>
              </a:rPr>
              <a:t>buffer</a:t>
            </a:r>
            <a:endParaRPr lang="en-US" sz="850" dirty="0"/>
          </a:p>
        </p:txBody>
      </p:sp>
      <p:sp>
        <p:nvSpPr>
          <p:cNvPr id="46" name="Shape 38"/>
          <p:cNvSpPr/>
          <p:nvPr/>
        </p:nvSpPr>
        <p:spPr>
          <a:xfrm>
            <a:off x="3474720" y="3666744"/>
            <a:ext cx="18288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7" name="Shape 39"/>
          <p:cNvSpPr/>
          <p:nvPr/>
        </p:nvSpPr>
        <p:spPr>
          <a:xfrm>
            <a:off x="4663440" y="3108960"/>
            <a:ext cx="4343400" cy="1783080"/>
          </a:xfrm>
          <a:prstGeom prst="roundRect">
            <a:avLst>
              <a:gd name="adj" fmla="val 3077"/>
            </a:avLst>
          </a:prstGeom>
          <a:ln w="15875">
            <a:solidFill>
              <a:srgbClr val="8C4FFF"/>
            </a:solidFill>
            <a:prstDash val="dash"/>
          </a:ln>
        </p:spPr>
      </p:sp>
      <p:sp>
        <p:nvSpPr>
          <p:cNvPr id="48" name="Text 40"/>
          <p:cNvSpPr/>
          <p:nvPr/>
        </p:nvSpPr>
        <p:spPr>
          <a:xfrm>
            <a:off x="4754880" y="3145536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4FFF"/>
                </a:solidFill>
              </a:rPr>
              <a:t>AWS Step Functions — generic state machine</a:t>
            </a:r>
            <a:endParaRPr lang="en-US" sz="900" dirty="0"/>
          </a:p>
        </p:txBody>
      </p:sp>
      <p:pic>
        <p:nvPicPr>
          <p:cNvPr id="49" name="Image 6" descr="/home/claude/icons_user/icons/Arch_AWS-Step-Functions_48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3127248"/>
            <a:ext cx="219456" cy="219456"/>
          </a:xfrm>
          <a:prstGeom prst="rect">
            <a:avLst/>
          </a:prstGeom>
        </p:spPr>
      </p:pic>
      <p:pic>
        <p:nvPicPr>
          <p:cNvPr id="50" name="Image 7" descr="/home/claude/icons_user/icons/Arch_AWS-Lambda_4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6340" y="3456432"/>
            <a:ext cx="457200" cy="457200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4754880" y="394106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2F3E"/>
                </a:solidFill>
              </a:rPr>
              <a:t>Classify λ</a:t>
            </a:r>
            <a:endParaRPr lang="en-US" sz="85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3D4856"/>
                </a:solidFill>
              </a:rPr>
              <a:t>config-driven</a:t>
            </a:r>
            <a:endParaRPr lang="en-US" sz="850" dirty="0"/>
          </a:p>
        </p:txBody>
      </p:sp>
      <p:pic>
        <p:nvPicPr>
          <p:cNvPr id="52" name="Image 8" descr="/home/claude/icons_user/icons/Arch_AWS-Lambda_48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7900" y="3456432"/>
            <a:ext cx="457200" cy="457200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5806440" y="394106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2F3E"/>
                </a:solidFill>
              </a:rPr>
              <a:t>Extract λ</a:t>
            </a:r>
            <a:endParaRPr lang="en-US" sz="85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3D4856"/>
                </a:solidFill>
              </a:rPr>
              <a:t>Textract + AI</a:t>
            </a:r>
            <a:endParaRPr lang="en-US" sz="850" dirty="0"/>
          </a:p>
        </p:txBody>
      </p:sp>
      <p:pic>
        <p:nvPicPr>
          <p:cNvPr id="54" name="Image 9" descr="/home/claude/icons_user/icons/Arch_AWS-Lambda_48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9460" y="3456432"/>
            <a:ext cx="457200" cy="457200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6858000" y="394106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2F3E"/>
                </a:solidFill>
              </a:rPr>
              <a:t>Validate λ</a:t>
            </a:r>
            <a:endParaRPr lang="en-US" sz="85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3D4856"/>
                </a:solidFill>
              </a:rPr>
              <a:t>rules + AI</a:t>
            </a:r>
            <a:endParaRPr lang="en-US" sz="850" dirty="0"/>
          </a:p>
        </p:txBody>
      </p:sp>
      <p:sp>
        <p:nvSpPr>
          <p:cNvPr id="56" name="Shape 44"/>
          <p:cNvSpPr/>
          <p:nvPr/>
        </p:nvSpPr>
        <p:spPr>
          <a:xfrm>
            <a:off x="7955280" y="3520440"/>
            <a:ext cx="777240" cy="594360"/>
          </a:xfrm>
          <a:prstGeom prst="diamond">
            <a:avLst/>
          </a:prstGeom>
          <a:solidFill>
            <a:srgbClr val="FFF1E0"/>
          </a:solidFill>
          <a:ln w="19050">
            <a:solidFill>
              <a:srgbClr val="B5651D"/>
            </a:solidFill>
            <a:prstDash val="solid"/>
          </a:ln>
        </p:spPr>
      </p:sp>
      <p:sp>
        <p:nvSpPr>
          <p:cNvPr id="57" name="Text 45"/>
          <p:cNvSpPr/>
          <p:nvPr/>
        </p:nvSpPr>
        <p:spPr>
          <a:xfrm>
            <a:off x="7882128" y="3712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5651D"/>
                </a:solidFill>
              </a:rPr>
              <a:t>review?</a:t>
            </a:r>
            <a:endParaRPr lang="en-US" sz="750" dirty="0"/>
          </a:p>
        </p:txBody>
      </p:sp>
      <p:sp>
        <p:nvSpPr>
          <p:cNvPr id="58" name="Shape 46"/>
          <p:cNvSpPr/>
          <p:nvPr/>
        </p:nvSpPr>
        <p:spPr>
          <a:xfrm>
            <a:off x="4526280" y="3666744"/>
            <a:ext cx="22860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59" name="Shape 47"/>
          <p:cNvSpPr/>
          <p:nvPr/>
        </p:nvSpPr>
        <p:spPr>
          <a:xfrm>
            <a:off x="5715000" y="3712464"/>
            <a:ext cx="9144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60" name="Shape 48"/>
          <p:cNvSpPr/>
          <p:nvPr/>
        </p:nvSpPr>
        <p:spPr>
          <a:xfrm>
            <a:off x="6766560" y="3712464"/>
            <a:ext cx="9144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61" name="Shape 49"/>
          <p:cNvSpPr/>
          <p:nvPr/>
        </p:nvSpPr>
        <p:spPr>
          <a:xfrm>
            <a:off x="7818120" y="3712464"/>
            <a:ext cx="13716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62" name="Shape 50"/>
          <p:cNvSpPr/>
          <p:nvPr/>
        </p:nvSpPr>
        <p:spPr>
          <a:xfrm>
            <a:off x="9418320" y="3246120"/>
            <a:ext cx="2331720" cy="219456"/>
          </a:xfrm>
          <a:prstGeom prst="roundRect">
            <a:avLst>
              <a:gd name="adj" fmla="val 16667"/>
            </a:avLst>
          </a:prstGeom>
          <a:solidFill>
            <a:srgbClr val="C7314A"/>
          </a:solidFill>
          <a:ln w="12700">
            <a:solidFill>
              <a:srgbClr val="C7314A"/>
            </a:solidFill>
            <a:prstDash val="solid"/>
          </a:ln>
        </p:spPr>
      </p:sp>
      <p:sp>
        <p:nvSpPr>
          <p:cNvPr id="63" name="Text 51"/>
          <p:cNvSpPr/>
          <p:nvPr/>
        </p:nvSpPr>
        <p:spPr>
          <a:xfrm>
            <a:off x="9418320" y="324612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AI / OCR Services  (pluggable provider)</a:t>
            </a:r>
            <a:endParaRPr lang="en-US" sz="800" dirty="0"/>
          </a:p>
        </p:txBody>
      </p:sp>
      <p:sp>
        <p:nvSpPr>
          <p:cNvPr id="64" name="Shape 52"/>
          <p:cNvSpPr/>
          <p:nvPr/>
        </p:nvSpPr>
        <p:spPr>
          <a:xfrm>
            <a:off x="9418320" y="3483864"/>
            <a:ext cx="233172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620">
            <a:solidFill>
              <a:srgbClr val="C7314A"/>
            </a:solidFill>
            <a:prstDash val="solid"/>
          </a:ln>
        </p:spPr>
      </p:sp>
      <p:sp>
        <p:nvSpPr>
          <p:cNvPr id="65" name="Text 53"/>
          <p:cNvSpPr/>
          <p:nvPr/>
        </p:nvSpPr>
        <p:spPr>
          <a:xfrm>
            <a:off x="9454896" y="3483864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32F3E"/>
                </a:solidFill>
              </a:rPr>
              <a:t>Amazon Textract  (OCR, forms)</a:t>
            </a:r>
            <a:endParaRPr lang="en-US" sz="700" dirty="0"/>
          </a:p>
        </p:txBody>
      </p:sp>
      <p:sp>
        <p:nvSpPr>
          <p:cNvPr id="66" name="Shape 54"/>
          <p:cNvSpPr/>
          <p:nvPr/>
        </p:nvSpPr>
        <p:spPr>
          <a:xfrm>
            <a:off x="9418320" y="3685032"/>
            <a:ext cx="233172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620">
            <a:solidFill>
              <a:srgbClr val="C7314A"/>
            </a:solidFill>
            <a:prstDash val="solid"/>
          </a:ln>
        </p:spPr>
      </p:sp>
      <p:sp>
        <p:nvSpPr>
          <p:cNvPr id="67" name="Text 55"/>
          <p:cNvSpPr/>
          <p:nvPr/>
        </p:nvSpPr>
        <p:spPr>
          <a:xfrm>
            <a:off x="9454896" y="3685032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32F3E"/>
                </a:solidFill>
              </a:rPr>
              <a:t>Amazon Bedrock  (Claude — extraction, classification)</a:t>
            </a:r>
            <a:endParaRPr lang="en-US" sz="700" dirty="0"/>
          </a:p>
        </p:txBody>
      </p:sp>
      <p:sp>
        <p:nvSpPr>
          <p:cNvPr id="68" name="Shape 56"/>
          <p:cNvSpPr/>
          <p:nvPr/>
        </p:nvSpPr>
        <p:spPr>
          <a:xfrm>
            <a:off x="9418320" y="3886200"/>
            <a:ext cx="233172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620">
            <a:solidFill>
              <a:srgbClr val="C7314A"/>
            </a:solidFill>
            <a:prstDash val="solid"/>
          </a:ln>
        </p:spPr>
      </p:sp>
      <p:sp>
        <p:nvSpPr>
          <p:cNvPr id="69" name="Text 57"/>
          <p:cNvSpPr/>
          <p:nvPr/>
        </p:nvSpPr>
        <p:spPr>
          <a:xfrm>
            <a:off x="9454896" y="388620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32F3E"/>
                </a:solidFill>
              </a:rPr>
              <a:t>Bedrock Guardrails</a:t>
            </a:r>
            <a:endParaRPr lang="en-US" sz="700" dirty="0"/>
          </a:p>
        </p:txBody>
      </p:sp>
      <p:sp>
        <p:nvSpPr>
          <p:cNvPr id="70" name="Shape 58"/>
          <p:cNvSpPr/>
          <p:nvPr/>
        </p:nvSpPr>
        <p:spPr>
          <a:xfrm>
            <a:off x="9418320" y="4087368"/>
            <a:ext cx="233172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620">
            <a:solidFill>
              <a:srgbClr val="C7314A"/>
            </a:solidFill>
            <a:prstDash val="solid"/>
          </a:ln>
        </p:spPr>
      </p:sp>
      <p:sp>
        <p:nvSpPr>
          <p:cNvPr id="71" name="Text 59"/>
          <p:cNvSpPr/>
          <p:nvPr/>
        </p:nvSpPr>
        <p:spPr>
          <a:xfrm>
            <a:off x="9454896" y="4087368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32F3E"/>
                </a:solidFill>
              </a:rPr>
              <a:t>Azure: Form Recognizer + Azure OpenAI</a:t>
            </a:r>
            <a:endParaRPr lang="en-US" sz="700" dirty="0"/>
          </a:p>
        </p:txBody>
      </p:sp>
      <p:sp>
        <p:nvSpPr>
          <p:cNvPr id="72" name="Shape 60"/>
          <p:cNvSpPr/>
          <p:nvPr/>
        </p:nvSpPr>
        <p:spPr>
          <a:xfrm>
            <a:off x="6286500" y="4325112"/>
            <a:ext cx="914" cy="61264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73" name="Shape 61"/>
          <p:cNvSpPr/>
          <p:nvPr/>
        </p:nvSpPr>
        <p:spPr>
          <a:xfrm>
            <a:off x="6286500" y="4937760"/>
            <a:ext cx="429768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74" name="Shape 62"/>
          <p:cNvSpPr/>
          <p:nvPr/>
        </p:nvSpPr>
        <p:spPr>
          <a:xfrm>
            <a:off x="10584180" y="4288536"/>
            <a:ext cx="914" cy="64922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triangle"/>
          </a:ln>
        </p:spPr>
      </p:sp>
      <p:sp>
        <p:nvSpPr>
          <p:cNvPr id="75" name="Text 63"/>
          <p:cNvSpPr/>
          <p:nvPr/>
        </p:nvSpPr>
        <p:spPr>
          <a:xfrm>
            <a:off x="7703820" y="4846320"/>
            <a:ext cx="146304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3D4856"/>
                </a:solidFill>
              </a:rPr>
              <a:t>OCR + Gen AI calls</a:t>
            </a:r>
            <a:endParaRPr lang="en-US" sz="750" dirty="0"/>
          </a:p>
        </p:txBody>
      </p:sp>
      <p:pic>
        <p:nvPicPr>
          <p:cNvPr id="76" name="Image 10" descr="/home/claude/icons_user/icons/Arch_Amazon-DynamoDB_48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23360" y="4526280"/>
            <a:ext cx="457200" cy="457200"/>
          </a:xfrm>
          <a:prstGeom prst="rect">
            <a:avLst/>
          </a:prstGeom>
        </p:spPr>
      </p:pic>
      <p:sp>
        <p:nvSpPr>
          <p:cNvPr id="77" name="Text 64"/>
          <p:cNvSpPr/>
          <p:nvPr/>
        </p:nvSpPr>
        <p:spPr>
          <a:xfrm>
            <a:off x="3657600" y="50109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2F3E"/>
                </a:solidFill>
              </a:rPr>
              <a:t>Batch Store</a:t>
            </a:r>
            <a:endParaRPr lang="en-US" sz="85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3D4856"/>
                </a:solidFill>
              </a:rPr>
              <a:t>DynamoDB</a:t>
            </a:r>
            <a:endParaRPr lang="en-US" sz="850" dirty="0"/>
          </a:p>
        </p:txBody>
      </p:sp>
      <p:sp>
        <p:nvSpPr>
          <p:cNvPr id="78" name="Shape 65"/>
          <p:cNvSpPr/>
          <p:nvPr/>
        </p:nvSpPr>
        <p:spPr>
          <a:xfrm>
            <a:off x="4526280" y="4325112"/>
            <a:ext cx="708660" cy="20116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79" name="Shape 66"/>
          <p:cNvSpPr/>
          <p:nvPr/>
        </p:nvSpPr>
        <p:spPr>
          <a:xfrm>
            <a:off x="3977640" y="4325112"/>
            <a:ext cx="3360420" cy="20116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80" name="Text 67"/>
          <p:cNvSpPr/>
          <p:nvPr/>
        </p:nvSpPr>
        <p:spPr>
          <a:xfrm>
            <a:off x="3794760" y="4270248"/>
            <a:ext cx="91440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3D4856"/>
                </a:solidFill>
              </a:rPr>
              <a:t>state writes</a:t>
            </a:r>
            <a:endParaRPr lang="en-US" sz="750" dirty="0"/>
          </a:p>
        </p:txBody>
      </p:sp>
      <p:sp>
        <p:nvSpPr>
          <p:cNvPr id="81" name="Shape 68"/>
          <p:cNvSpPr/>
          <p:nvPr/>
        </p:nvSpPr>
        <p:spPr>
          <a:xfrm>
            <a:off x="502920" y="5303520"/>
            <a:ext cx="11201400" cy="1097280"/>
          </a:xfrm>
          <a:prstGeom prst="roundRect">
            <a:avLst>
              <a:gd name="adj" fmla="val 5000"/>
            </a:avLst>
          </a:prstGeom>
          <a:ln w="15875">
            <a:solidFill>
              <a:srgbClr val="01A88D"/>
            </a:solidFill>
            <a:prstDash val="dash"/>
          </a:ln>
        </p:spPr>
      </p:sp>
      <p:sp>
        <p:nvSpPr>
          <p:cNvPr id="82" name="Text 69"/>
          <p:cNvSpPr/>
          <p:nvPr/>
        </p:nvSpPr>
        <p:spPr>
          <a:xfrm>
            <a:off x="594360" y="5340096"/>
            <a:ext cx="11018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1A88D"/>
                </a:solidFill>
              </a:rPr>
              <a:t>REVIEW &amp; EXPORT — operations plane</a:t>
            </a:r>
            <a:endParaRPr lang="en-US" sz="900" dirty="0"/>
          </a:p>
        </p:txBody>
      </p:sp>
      <p:sp>
        <p:nvSpPr>
          <p:cNvPr id="83" name="Shape 70"/>
          <p:cNvSpPr/>
          <p:nvPr/>
        </p:nvSpPr>
        <p:spPr>
          <a:xfrm>
            <a:off x="685800" y="5623560"/>
            <a:ext cx="1005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2E73B8"/>
            </a:solidFill>
            <a:prstDash val="solid"/>
          </a:ln>
        </p:spPr>
      </p:sp>
      <p:sp>
        <p:nvSpPr>
          <p:cNvPr id="84" name="Text 71"/>
          <p:cNvSpPr/>
          <p:nvPr/>
        </p:nvSpPr>
        <p:spPr>
          <a:xfrm>
            <a:off x="713232" y="5623560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3B8"/>
                </a:solidFill>
              </a:rPr>
              <a:t>Indexer</a:t>
            </a:r>
            <a:endParaRPr lang="en-US" sz="9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3D4856"/>
                </a:solidFill>
              </a:rPr>
              <a:t>browser</a:t>
            </a:r>
            <a:endParaRPr lang="en-US" sz="900" dirty="0"/>
          </a:p>
        </p:txBody>
      </p:sp>
      <p:pic>
        <p:nvPicPr>
          <p:cNvPr id="85" name="Image 11" descr="/home/claude/icons_user/icons/Arch_Amazon-CloudFront_48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7400" y="5577840"/>
            <a:ext cx="457200" cy="457200"/>
          </a:xfrm>
          <a:prstGeom prst="rect">
            <a:avLst/>
          </a:prstGeom>
        </p:spPr>
      </p:pic>
      <p:sp>
        <p:nvSpPr>
          <p:cNvPr id="86" name="Text 72"/>
          <p:cNvSpPr/>
          <p:nvPr/>
        </p:nvSpPr>
        <p:spPr>
          <a:xfrm>
            <a:off x="1783080" y="60624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2F3E"/>
                </a:solidFill>
              </a:rPr>
              <a:t>CloudFront</a:t>
            </a:r>
            <a:endParaRPr lang="en-US" sz="85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3D4856"/>
                </a:solidFill>
              </a:rPr>
              <a:t>indexer UI</a:t>
            </a:r>
            <a:endParaRPr lang="en-US" sz="850" dirty="0"/>
          </a:p>
        </p:txBody>
      </p:sp>
      <p:pic>
        <p:nvPicPr>
          <p:cNvPr id="87" name="Image 12" descr="/home/claude/icons_user/icons/Arch_AWS-Lambda_48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7560" y="5577840"/>
            <a:ext cx="457200" cy="457200"/>
          </a:xfrm>
          <a:prstGeom prst="rect">
            <a:avLst/>
          </a:prstGeom>
        </p:spPr>
      </p:pic>
      <p:sp>
        <p:nvSpPr>
          <p:cNvPr id="88" name="Text 73"/>
          <p:cNvSpPr/>
          <p:nvPr/>
        </p:nvSpPr>
        <p:spPr>
          <a:xfrm>
            <a:off x="2926080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2F3E"/>
                </a:solidFill>
              </a:rPr>
              <a:t>API λ</a:t>
            </a:r>
            <a:endParaRPr lang="en-US" sz="85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3D4856"/>
                </a:solidFill>
              </a:rPr>
              <a:t>list/claim/submit</a:t>
            </a:r>
            <a:endParaRPr lang="en-US" sz="850" dirty="0"/>
          </a:p>
        </p:txBody>
      </p:sp>
      <p:pic>
        <p:nvPicPr>
          <p:cNvPr id="89" name="Image 13" descr="/home/claude/icons_user/icons/Arch_AWS-Lambda_48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09160" y="5577840"/>
            <a:ext cx="457200" cy="457200"/>
          </a:xfrm>
          <a:prstGeom prst="rect">
            <a:avLst/>
          </a:prstGeom>
        </p:spPr>
      </p:pic>
      <p:sp>
        <p:nvSpPr>
          <p:cNvPr id="90" name="Text 74"/>
          <p:cNvSpPr/>
          <p:nvPr/>
        </p:nvSpPr>
        <p:spPr>
          <a:xfrm>
            <a:off x="4389120" y="6062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2F3E"/>
                </a:solidFill>
              </a:rPr>
              <a:t>Export λ</a:t>
            </a:r>
            <a:endParaRPr lang="en-US" sz="85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3D4856"/>
                </a:solidFill>
              </a:rPr>
              <a:t>pluggable</a:t>
            </a:r>
            <a:endParaRPr lang="en-US" sz="850" dirty="0"/>
          </a:p>
        </p:txBody>
      </p:sp>
      <p:sp>
        <p:nvSpPr>
          <p:cNvPr id="91" name="Shape 75"/>
          <p:cNvSpPr/>
          <p:nvPr/>
        </p:nvSpPr>
        <p:spPr>
          <a:xfrm>
            <a:off x="1691640" y="5875020"/>
            <a:ext cx="9144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2" name="Shape 76"/>
          <p:cNvSpPr/>
          <p:nvPr/>
        </p:nvSpPr>
        <p:spPr>
          <a:xfrm>
            <a:off x="2788920" y="5815584"/>
            <a:ext cx="13716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3" name="Shape 77"/>
          <p:cNvSpPr/>
          <p:nvPr/>
        </p:nvSpPr>
        <p:spPr>
          <a:xfrm>
            <a:off x="4206240" y="5815584"/>
            <a:ext cx="18288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4" name="Text 78"/>
          <p:cNvSpPr/>
          <p:nvPr/>
        </p:nvSpPr>
        <p:spPr>
          <a:xfrm>
            <a:off x="3886200" y="5541264"/>
            <a:ext cx="82296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4856"/>
                </a:solidFill>
              </a:rPr>
              <a:t>on submit</a:t>
            </a:r>
            <a:endParaRPr lang="en-US" sz="750" dirty="0"/>
          </a:p>
        </p:txBody>
      </p:sp>
      <p:sp>
        <p:nvSpPr>
          <p:cNvPr id="95" name="Shape 79"/>
          <p:cNvSpPr/>
          <p:nvPr/>
        </p:nvSpPr>
        <p:spPr>
          <a:xfrm>
            <a:off x="5852160" y="5376672"/>
            <a:ext cx="2194560" cy="201168"/>
          </a:xfrm>
          <a:prstGeom prst="roundRect">
            <a:avLst>
              <a:gd name="adj" fmla="val 18182"/>
            </a:avLst>
          </a:prstGeom>
          <a:solidFill>
            <a:srgbClr val="01A88D"/>
          </a:solidFill>
          <a:ln w="12700">
            <a:solidFill>
              <a:srgbClr val="01A88D"/>
            </a:solidFill>
            <a:prstDash val="solid"/>
          </a:ln>
        </p:spPr>
      </p:sp>
      <p:sp>
        <p:nvSpPr>
          <p:cNvPr id="96" name="Text 80"/>
          <p:cNvSpPr/>
          <p:nvPr/>
        </p:nvSpPr>
        <p:spPr>
          <a:xfrm>
            <a:off x="5852160" y="5376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Export Connectors  (pluggable)</a:t>
            </a:r>
            <a:endParaRPr lang="en-US" sz="800" dirty="0"/>
          </a:p>
        </p:txBody>
      </p:sp>
      <p:sp>
        <p:nvSpPr>
          <p:cNvPr id="97" name="Shape 81"/>
          <p:cNvSpPr/>
          <p:nvPr/>
        </p:nvSpPr>
        <p:spPr>
          <a:xfrm>
            <a:off x="5852160" y="5596128"/>
            <a:ext cx="2194560" cy="164592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7620">
            <a:solidFill>
              <a:srgbClr val="01A88D"/>
            </a:solidFill>
            <a:prstDash val="solid"/>
          </a:ln>
        </p:spPr>
      </p:sp>
      <p:sp>
        <p:nvSpPr>
          <p:cNvPr id="98" name="Text 82"/>
          <p:cNvSpPr/>
          <p:nvPr/>
        </p:nvSpPr>
        <p:spPr>
          <a:xfrm>
            <a:off x="5888736" y="559612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32F3E"/>
                </a:solidFill>
              </a:rPr>
              <a:t>IBM FileNet · OnBase</a:t>
            </a:r>
            <a:endParaRPr lang="en-US" sz="700" dirty="0"/>
          </a:p>
        </p:txBody>
      </p:sp>
      <p:sp>
        <p:nvSpPr>
          <p:cNvPr id="99" name="Shape 83"/>
          <p:cNvSpPr/>
          <p:nvPr/>
        </p:nvSpPr>
        <p:spPr>
          <a:xfrm>
            <a:off x="5852160" y="5779008"/>
            <a:ext cx="2194560" cy="164592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7620">
            <a:solidFill>
              <a:srgbClr val="01A88D"/>
            </a:solidFill>
            <a:prstDash val="solid"/>
          </a:ln>
        </p:spPr>
      </p:sp>
      <p:sp>
        <p:nvSpPr>
          <p:cNvPr id="100" name="Text 84"/>
          <p:cNvSpPr/>
          <p:nvPr/>
        </p:nvSpPr>
        <p:spPr>
          <a:xfrm>
            <a:off x="5888736" y="577900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32F3E"/>
                </a:solidFill>
              </a:rPr>
              <a:t>SharePoint · ServiceNow</a:t>
            </a:r>
            <a:endParaRPr lang="en-US" sz="700" dirty="0"/>
          </a:p>
        </p:txBody>
      </p:sp>
      <p:sp>
        <p:nvSpPr>
          <p:cNvPr id="101" name="Shape 85"/>
          <p:cNvSpPr/>
          <p:nvPr/>
        </p:nvSpPr>
        <p:spPr>
          <a:xfrm>
            <a:off x="5852160" y="5961888"/>
            <a:ext cx="2194560" cy="164592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7620">
            <a:solidFill>
              <a:srgbClr val="01A88D"/>
            </a:solidFill>
            <a:prstDash val="solid"/>
          </a:ln>
        </p:spPr>
      </p:sp>
      <p:sp>
        <p:nvSpPr>
          <p:cNvPr id="102" name="Text 86"/>
          <p:cNvSpPr/>
          <p:nvPr/>
        </p:nvSpPr>
        <p:spPr>
          <a:xfrm>
            <a:off x="5888736" y="596188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32F3E"/>
                </a:solidFill>
              </a:rPr>
              <a:t>S3 · Azure Blob · REST</a:t>
            </a:r>
            <a:endParaRPr lang="en-US" sz="700" dirty="0"/>
          </a:p>
        </p:txBody>
      </p:sp>
      <p:sp>
        <p:nvSpPr>
          <p:cNvPr id="103" name="Shape 87"/>
          <p:cNvSpPr/>
          <p:nvPr/>
        </p:nvSpPr>
        <p:spPr>
          <a:xfrm>
            <a:off x="5852160" y="6144768"/>
            <a:ext cx="2194560" cy="164592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7620">
            <a:solidFill>
              <a:srgbClr val="01A88D"/>
            </a:solidFill>
            <a:prstDash val="solid"/>
          </a:ln>
        </p:spPr>
      </p:sp>
      <p:sp>
        <p:nvSpPr>
          <p:cNvPr id="104" name="Text 88"/>
          <p:cNvSpPr/>
          <p:nvPr/>
        </p:nvSpPr>
        <p:spPr>
          <a:xfrm>
            <a:off x="5888736" y="614476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32F3E"/>
                </a:solidFill>
              </a:rPr>
              <a:t>Custom connector SDK</a:t>
            </a:r>
            <a:endParaRPr lang="en-US" sz="700" dirty="0"/>
          </a:p>
        </p:txBody>
      </p:sp>
      <p:sp>
        <p:nvSpPr>
          <p:cNvPr id="105" name="Shape 89"/>
          <p:cNvSpPr/>
          <p:nvPr/>
        </p:nvSpPr>
        <p:spPr>
          <a:xfrm>
            <a:off x="5486400" y="5815584"/>
            <a:ext cx="36576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6" name="Shape 90"/>
          <p:cNvSpPr/>
          <p:nvPr/>
        </p:nvSpPr>
        <p:spPr>
          <a:xfrm>
            <a:off x="8348472" y="4114800"/>
            <a:ext cx="914" cy="10972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07" name="Shape 91"/>
          <p:cNvSpPr/>
          <p:nvPr/>
        </p:nvSpPr>
        <p:spPr>
          <a:xfrm>
            <a:off x="3566160" y="5212080"/>
            <a:ext cx="4782312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08" name="Shape 92"/>
          <p:cNvSpPr/>
          <p:nvPr/>
        </p:nvSpPr>
        <p:spPr>
          <a:xfrm>
            <a:off x="3566160" y="5212080"/>
            <a:ext cx="914" cy="3657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9" name="Text 93"/>
          <p:cNvSpPr/>
          <p:nvPr/>
        </p:nvSpPr>
        <p:spPr>
          <a:xfrm>
            <a:off x="5225796" y="5120640"/>
            <a:ext cx="146304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3D4856"/>
                </a:solidFill>
              </a:rPr>
              <a:t>review queue (DDB)</a:t>
            </a:r>
            <a:endParaRPr lang="en-US" sz="750" dirty="0"/>
          </a:p>
        </p:txBody>
      </p:sp>
      <p:sp>
        <p:nvSpPr>
          <p:cNvPr id="110" name="Shape 94"/>
          <p:cNvSpPr/>
          <p:nvPr/>
        </p:nvSpPr>
        <p:spPr>
          <a:xfrm>
            <a:off x="8732520" y="3840480"/>
            <a:ext cx="45720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11" name="Shape 95"/>
          <p:cNvSpPr/>
          <p:nvPr/>
        </p:nvSpPr>
        <p:spPr>
          <a:xfrm>
            <a:off x="9189720" y="3840480"/>
            <a:ext cx="914" cy="16916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12" name="Shape 96"/>
          <p:cNvSpPr/>
          <p:nvPr/>
        </p:nvSpPr>
        <p:spPr>
          <a:xfrm>
            <a:off x="4937760" y="5532120"/>
            <a:ext cx="425196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13" name="Shape 97"/>
          <p:cNvSpPr/>
          <p:nvPr/>
        </p:nvSpPr>
        <p:spPr>
          <a:xfrm>
            <a:off x="4937760" y="5532120"/>
            <a:ext cx="914" cy="457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4" name="Text 98"/>
          <p:cNvSpPr/>
          <p:nvPr/>
        </p:nvSpPr>
        <p:spPr>
          <a:xfrm>
            <a:off x="8823960" y="4663440"/>
            <a:ext cx="128016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3D4856"/>
                </a:solidFill>
              </a:rPr>
              <a:t>straight-through</a:t>
            </a:r>
            <a:endParaRPr lang="en-US" sz="750" dirty="0"/>
          </a:p>
        </p:txBody>
      </p:sp>
      <p:sp>
        <p:nvSpPr>
          <p:cNvPr id="115" name="Shape 99"/>
          <p:cNvSpPr/>
          <p:nvPr/>
        </p:nvSpPr>
        <p:spPr>
          <a:xfrm>
            <a:off x="8412480" y="5440680"/>
            <a:ext cx="3310128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5A6B7B"/>
            </a:solidFill>
            <a:prstDash val="solid"/>
          </a:ln>
        </p:spPr>
      </p:sp>
      <p:sp>
        <p:nvSpPr>
          <p:cNvPr id="116" name="Text 100"/>
          <p:cNvSpPr/>
          <p:nvPr/>
        </p:nvSpPr>
        <p:spPr>
          <a:xfrm>
            <a:off x="8439912" y="5440680"/>
            <a:ext cx="3255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17" name="Text 101"/>
          <p:cNvSpPr/>
          <p:nvPr/>
        </p:nvSpPr>
        <p:spPr>
          <a:xfrm>
            <a:off x="8412480" y="5458968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6B7B"/>
                </a:solidFill>
              </a:rPr>
              <a:t>Cross-cutting (per-tenant)</a:t>
            </a:r>
            <a:endParaRPr lang="en-US" sz="750" dirty="0"/>
          </a:p>
        </p:txBody>
      </p:sp>
      <p:pic>
        <p:nvPicPr>
          <p:cNvPr id="118" name="Image 14" descr="/home/claude/icons_user/icons/Arch_Amazon-CloudWatch_48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95360" y="5650992"/>
            <a:ext cx="237744" cy="237744"/>
          </a:xfrm>
          <a:prstGeom prst="rect">
            <a:avLst/>
          </a:prstGeom>
        </p:spPr>
      </p:pic>
      <p:sp>
        <p:nvSpPr>
          <p:cNvPr id="119" name="Text 102"/>
          <p:cNvSpPr/>
          <p:nvPr/>
        </p:nvSpPr>
        <p:spPr>
          <a:xfrm>
            <a:off x="8430768" y="5897880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D4856"/>
                </a:solidFill>
              </a:rPr>
              <a:t>CloudWatch</a:t>
            </a:r>
            <a:endParaRPr lang="en-US" sz="600" dirty="0"/>
          </a:p>
        </p:txBody>
      </p:sp>
      <p:pic>
        <p:nvPicPr>
          <p:cNvPr id="120" name="Image 15" descr="/home/claude/icons_user/icons/Arch_AWS-Key-Management-Service_48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06840" y="5650992"/>
            <a:ext cx="237744" cy="237744"/>
          </a:xfrm>
          <a:prstGeom prst="rect">
            <a:avLst/>
          </a:prstGeom>
        </p:spPr>
      </p:pic>
      <p:sp>
        <p:nvSpPr>
          <p:cNvPr id="121" name="Text 103"/>
          <p:cNvSpPr/>
          <p:nvPr/>
        </p:nvSpPr>
        <p:spPr>
          <a:xfrm>
            <a:off x="8842248" y="5897880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D4856"/>
                </a:solidFill>
              </a:rPr>
              <a:t>KMS</a:t>
            </a:r>
            <a:endParaRPr lang="en-US" sz="600" dirty="0"/>
          </a:p>
        </p:txBody>
      </p:sp>
      <p:pic>
        <p:nvPicPr>
          <p:cNvPr id="122" name="Image 16" descr="/home/claude/icons_user/icons/Arch_AWS-Identity-and-Access-Management_48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00032" y="5650992"/>
            <a:ext cx="237744" cy="237744"/>
          </a:xfrm>
          <a:prstGeom prst="rect">
            <a:avLst/>
          </a:prstGeom>
        </p:spPr>
      </p:pic>
      <p:sp>
        <p:nvSpPr>
          <p:cNvPr id="123" name="Text 104"/>
          <p:cNvSpPr/>
          <p:nvPr/>
        </p:nvSpPr>
        <p:spPr>
          <a:xfrm>
            <a:off x="9235440" y="5897880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D4856"/>
                </a:solidFill>
              </a:rPr>
              <a:t>IAM</a:t>
            </a:r>
            <a:endParaRPr lang="en-US" sz="600" dirty="0"/>
          </a:p>
        </p:txBody>
      </p:sp>
      <p:pic>
        <p:nvPicPr>
          <p:cNvPr id="124" name="Image 17" descr="/home/claude/icons_user/icons/Arch_AWS-CloudFormation_48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57232" y="5650992"/>
            <a:ext cx="237744" cy="237744"/>
          </a:xfrm>
          <a:prstGeom prst="rect">
            <a:avLst/>
          </a:prstGeom>
        </p:spPr>
      </p:pic>
      <p:sp>
        <p:nvSpPr>
          <p:cNvPr id="125" name="Text 105"/>
          <p:cNvSpPr/>
          <p:nvPr/>
        </p:nvSpPr>
        <p:spPr>
          <a:xfrm>
            <a:off x="9692640" y="5897880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D4856"/>
                </a:solidFill>
              </a:rPr>
              <a:t>CloudFormation</a:t>
            </a:r>
            <a:endParaRPr lang="en-US" sz="600" dirty="0"/>
          </a:p>
        </p:txBody>
      </p:sp>
      <p:sp>
        <p:nvSpPr>
          <p:cNvPr id="126" name="Text 106"/>
          <p:cNvSpPr/>
          <p:nvPr/>
        </p:nvSpPr>
        <p:spPr>
          <a:xfrm>
            <a:off x="365760" y="644652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32F3E"/>
                </a:solidFill>
              </a:rPr>
              <a:t>Single product, every customer deploys it themselves.  </a:t>
            </a:r>
            <a:pPr indent="0" marL="0">
              <a:buNone/>
            </a:pPr>
            <a:r>
              <a:rPr lang="en-US" sz="850" dirty="0">
                <a:solidFill>
                  <a:srgbClr val="3D4856"/>
                </a:solidFill>
              </a:rPr>
              <a:t>Vendor ships the package and the Studio; the customer's business analysts configure document types, fields, and rules in the Studio without writing code. Configuration drives the generic pipeline. AI replaces classical training: zero-shot extraction by natural-language field descriptions; semantic validation by natural-language rules.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2026-06-26T21:20:17Z</dcterms:created>
  <dcterms:modified xsi:type="dcterms:W3CDTF">2026-06-26T21:20:17Z</dcterms:modified>
</cp:coreProperties>
</file>